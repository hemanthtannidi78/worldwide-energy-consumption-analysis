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96" r:id="rId5"/>
    <p:sldId id="290" r:id="rId6"/>
    <p:sldId id="309" r:id="rId7"/>
    <p:sldId id="260" r:id="rId8"/>
    <p:sldId id="308" r:id="rId9"/>
    <p:sldId id="307" r:id="rId10"/>
    <p:sldId id="313" r:id="rId11"/>
    <p:sldId id="306" r:id="rId12"/>
    <p:sldId id="310" r:id="rId13"/>
    <p:sldId id="311" r:id="rId14"/>
    <p:sldId id="312" r:id="rId15"/>
    <p:sldId id="317" r:id="rId16"/>
    <p:sldId id="314" r:id="rId17"/>
    <p:sldId id="315" r:id="rId18"/>
    <p:sldId id="316" r:id="rId19"/>
    <p:sldId id="320" r:id="rId20"/>
    <p:sldId id="319" r:id="rId21"/>
    <p:sldId id="325" r:id="rId22"/>
    <p:sldId id="318" r:id="rId23"/>
    <p:sldId id="324" r:id="rId24"/>
    <p:sldId id="323" r:id="rId25"/>
    <p:sldId id="305" r:id="rId26"/>
    <p:sldId id="259" r:id="rId27"/>
  </p:sldIdLst>
  <p:sldSz cx="12192000" cy="6858000"/>
  <p:notesSz cx="6858000" cy="9144000"/>
  <p:embeddedFontLst>
    <p:embeddedFont>
      <p:font typeface="Lato Black" panose="020F0502020204030203" pitchFamily="34" charset="0"/>
      <p:bold r:id="rId29"/>
      <p:boldItalic r:id="rId30"/>
    </p:embeddedFont>
    <p:embeddedFont>
      <p:font typeface="Libre Baskerville" panose="02000000000000000000" pitchFamily="2" charset="0"/>
      <p:regular r:id="rId31"/>
      <p:bold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43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1EEB5C5-B98A-CDB9-48A0-95BE2EC3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46A4E49-842F-15F8-F844-B6F94E7B2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47009E5-136B-03E6-A606-AC597F097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9270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D8E5DD3-3C98-F12C-7C0F-135262F9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F0E2170-E1B6-2731-39D7-EAC4AE34A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62B9297-457E-254E-5472-98CB73231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875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CC33B65-339C-D1A1-0DAD-99747CA6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3FD4346-9982-B67F-0DED-25BDF41CC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3DF0F99-7C2B-7351-9350-635359B95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4162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9EF7118-EA3C-D7A7-1BFC-C2912E6A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B0851F4-1002-5171-8221-0C58A2426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593E6E4-7D74-7406-4A45-2C2D8485B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7224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C6ECD7B-FFE3-D81A-8A8E-3F455AA4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59D2CF9-486E-B7F2-8500-6922FC0EE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0B0AE4A-F5DF-A80D-F641-3A40FBF79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7977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3211C38-D206-6B97-44E1-7B617313A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7FB5260-9BA3-6033-0201-6BE4A3E45E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4AD9127-BEA7-105B-4EC3-BBAE9395A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5643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97F276A-C49D-1F12-B683-88602907A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2DF3507-DE60-2DDA-09AC-81018F2A17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527135B-8747-1EDB-3F12-33312DE3A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4032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541877A-1FEF-47B9-D0AD-71BA6599E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A8D51B9-BDEA-9846-9DD2-9AAE6D353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21A4561-4A7E-CE41-6C44-850D0600A5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173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3B9A078-57D4-0EC8-293F-E74E2D93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F22FB4C-37A4-C3CA-327B-0FE8A6AE3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99D1FEF-617B-CE4B-37F6-3789A3BA0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899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F5149FB-676E-2AD8-35AB-3A15A89F9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A1B7743-097C-C75F-4671-3272EE467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A7DBEBC-61B6-F5C6-CE72-1B35E58D4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7841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25033EB-BE24-6F14-5C10-FC58984E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1C58472-9893-0383-071A-62092500E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504F18F-343F-E762-3F4B-CAEC68319D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4663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7EA92D6-5365-A91E-44FC-10A14D90C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413E082-E2BA-3BFF-7C18-ACD2C46FC6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EA726E0-66C5-10B4-8964-5318C0C59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2382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E8F91F2-9E24-9842-A44D-87402A7D3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260B1F0-8B7A-F366-323E-11D071D4A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448F77D-2DAE-E52C-9D72-115F249B9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2165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662C03E-64B1-B653-D8C0-00AB4A69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7749DD2-1AC4-1EBE-7498-3CBCD18E0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C8C337B-4DEA-61BF-76A7-FB92F5A69B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8572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D49DB36-4A1E-E079-AAA0-B0C9A002E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A4C464B-F886-7B09-C5A5-93E41F8A1B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208A1B6-9979-3CAD-7C75-69E7F025A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9896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964AA4E-BB47-BF68-DCD0-AF50D87E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FB59A62-B359-5D23-B984-4791816F5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0CE2F70-7C6A-B150-0872-29A702BF4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5587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F9EA58B-E9D9-B4A3-4F58-A9A5772FA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CA0BC83-1149-8D27-4F13-50E6533C1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C237C12-8D59-A04F-1B2F-0A2F9E5C92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0083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F852B4C-F63B-9F5C-212A-39CE94D2C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BB8468D-AD34-C93D-3DEB-538752766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FA848DB-8059-8341-1A53-C3694252F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4287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24B0ADE-B9E6-6163-ADE2-BC9BC8EF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2AD9530-E9FA-B23B-4303-DD6D00097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89A8558-DDD8-3CCC-B603-312F43735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60984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C8EFDD4-1741-A187-4F55-5B2DAA7D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5524542-1A86-9661-6EC5-E69ABF98A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2713F89-A60A-2F71-00A0-2918B2BB7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16484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3E8F54E-8558-0813-3B4F-30A083E9A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6C72872-58A5-C1E7-1679-D1B7DF05A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1FD943F-F161-2413-6417-837F5AC0F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0318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A0E575-8786-0391-DC98-2FFAF562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ED75F0E-1D5F-F133-20DE-D4CCA0D42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C38F12F-B7C1-23A1-314E-F05B7E9F0A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79465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2472905" y="2532833"/>
            <a:ext cx="724618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 Wide Energy Consumption Analysis</a:t>
            </a:r>
            <a:endParaRPr sz="1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05;p3">
            <a:extLst>
              <a:ext uri="{FF2B5EF4-FFF2-40B4-BE49-F238E27FC236}">
                <a16:creationId xmlns:a16="http://schemas.microsoft.com/office/drawing/2014/main" id="{C8C0F283-EC89-DFFA-9523-7A6B3E5801B5}"/>
              </a:ext>
            </a:extLst>
          </p:cNvPr>
          <p:cNvSpPr txBox="1"/>
          <p:nvPr/>
        </p:nvSpPr>
        <p:spPr>
          <a:xfrm>
            <a:off x="691117" y="3983557"/>
            <a:ext cx="2931760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1" i="0" u="none" strike="noStrike" cap="none" dirty="0">
                <a:solidFill>
                  <a:srgbClr val="C00000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IN" sz="2800" b="1" dirty="0">
                <a:solidFill>
                  <a:srgbClr val="C00000"/>
                </a:solidFill>
              </a:rPr>
              <a:t>Team Members</a:t>
            </a:r>
            <a:endParaRPr sz="28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5;p3">
            <a:extLst>
              <a:ext uri="{FF2B5EF4-FFF2-40B4-BE49-F238E27FC236}">
                <a16:creationId xmlns:a16="http://schemas.microsoft.com/office/drawing/2014/main" id="{20EBC516-F9CF-120C-57E0-AFC1FA3719B7}"/>
              </a:ext>
            </a:extLst>
          </p:cNvPr>
          <p:cNvSpPr txBox="1"/>
          <p:nvPr/>
        </p:nvSpPr>
        <p:spPr>
          <a:xfrm>
            <a:off x="969505" y="5041531"/>
            <a:ext cx="2614791" cy="929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2000" dirty="0" err="1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Tannidi</a:t>
            </a:r>
            <a:r>
              <a:rPr lang="en-IN" sz="20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Hemanth</a:t>
            </a:r>
            <a:endParaRPr lang="en-IN" sz="2000" dirty="0">
              <a:solidFill>
                <a:schemeClr val="tx1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Lato Black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000" dirty="0">
                <a:solidFill>
                  <a:schemeClr val="tx1"/>
                </a:solidFill>
                <a:latin typeface="Lato Black"/>
                <a:ea typeface="Lato Black"/>
                <a:cs typeface="Lato Black"/>
                <a:sym typeface="Lato Black"/>
              </a:rPr>
              <a:t>Trinadh Kumar Reddi</a:t>
            </a:r>
            <a:r>
              <a:rPr lang="en-IN" sz="2800" b="0" i="0" u="none" strike="noStrike" cap="none" dirty="0">
                <a:solidFill>
                  <a:schemeClr val="tx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</a:p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2000" dirty="0">
                <a:solidFill>
                  <a:schemeClr val="tx1"/>
                </a:solidFill>
                <a:latin typeface="Lato Black"/>
                <a:ea typeface="Lato Black"/>
                <a:cs typeface="Lato Black"/>
                <a:sym typeface="Lato Black"/>
              </a:rPr>
              <a:t>Ch Vishwak Ratna</a:t>
            </a:r>
            <a:endParaRPr lang="en-IN" sz="2000" i="0" u="none" strike="noStrike" cap="none" dirty="0">
              <a:solidFill>
                <a:schemeClr val="tx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5A847-5038-5F12-EEFC-FFA9D03C4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37" r="21029"/>
          <a:stretch>
            <a:fillRect/>
          </a:stretch>
        </p:blipFill>
        <p:spPr>
          <a:xfrm>
            <a:off x="3201734" y="0"/>
            <a:ext cx="5764192" cy="2257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750E56-8D43-E8EC-0676-D20635770C7C}"/>
              </a:ext>
            </a:extLst>
          </p:cNvPr>
          <p:cNvSpPr txBox="1"/>
          <p:nvPr/>
        </p:nvSpPr>
        <p:spPr>
          <a:xfrm flipH="1">
            <a:off x="1372845" y="4569602"/>
            <a:ext cx="1439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rgbClr val="C00000"/>
                </a:solidFill>
                <a:latin typeface="Lato Black"/>
                <a:ea typeface="Lato Black"/>
                <a:cs typeface="Lato Black"/>
                <a:sym typeface="Lato Black"/>
              </a:rPr>
              <a:t>Batch 474</a:t>
            </a:r>
          </a:p>
          <a:p>
            <a:endParaRPr lang="en-IN" sz="2000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F67314-6988-2A0F-75E4-136544542E10}"/>
              </a:ext>
            </a:extLst>
          </p:cNvPr>
          <p:cNvSpPr txBox="1">
            <a:spLocks/>
          </p:cNvSpPr>
          <p:nvPr/>
        </p:nvSpPr>
        <p:spPr>
          <a:xfrm>
            <a:off x="942678" y="1089554"/>
            <a:ext cx="10306644" cy="233944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study aims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how economic growth impacts energy usage and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key contributors to global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trends over time across different countries.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energy efficiency using per capita and ratio-based metrics.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10;p4">
            <a:extLst>
              <a:ext uri="{FF2B5EF4-FFF2-40B4-BE49-F238E27FC236}">
                <a16:creationId xmlns:a16="http://schemas.microsoft.com/office/drawing/2014/main" id="{B62BE72C-61C9-3238-3AAB-7F265BEFF3D5}"/>
              </a:ext>
            </a:extLst>
          </p:cNvPr>
          <p:cNvSpPr txBox="1">
            <a:spLocks/>
          </p:cNvSpPr>
          <p:nvPr/>
        </p:nvSpPr>
        <p:spPr>
          <a:xfrm>
            <a:off x="942678" y="1088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</a:pPr>
            <a:r>
              <a:rPr lang="en-US" sz="3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AF9975-248E-084E-9EFF-BBE567F517E3}"/>
              </a:ext>
            </a:extLst>
          </p:cNvPr>
          <p:cNvSpPr txBox="1">
            <a:spLocks/>
          </p:cNvSpPr>
          <p:nvPr/>
        </p:nvSpPr>
        <p:spPr>
          <a:xfrm>
            <a:off x="4261757" y="3518700"/>
            <a:ext cx="4469288" cy="64225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C4EA7D5-CA98-D62E-1EBF-CB4DA04DD076}"/>
              </a:ext>
            </a:extLst>
          </p:cNvPr>
          <p:cNvSpPr txBox="1">
            <a:spLocks/>
          </p:cNvSpPr>
          <p:nvPr/>
        </p:nvSpPr>
        <p:spPr>
          <a:xfrm>
            <a:off x="1140748" y="4250656"/>
            <a:ext cx="10306644" cy="17608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of this project is to analyze global energy data across multiple countries using SQL to uncover meaningful insights about the relationship between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consumption, production, emissions, GDP, and population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EF3A28-75DC-07AA-2EC9-690117F4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505" y="497109"/>
            <a:ext cx="5002988" cy="76698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PROJECT OVERVIEW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3EFC43-2E7C-B7F4-011E-2977C765D4D1}"/>
              </a:ext>
            </a:extLst>
          </p:cNvPr>
          <p:cNvSpPr txBox="1">
            <a:spLocks/>
          </p:cNvSpPr>
          <p:nvPr/>
        </p:nvSpPr>
        <p:spPr>
          <a:xfrm>
            <a:off x="474802" y="1634212"/>
            <a:ext cx="11242393" cy="44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/>
            <a:r>
              <a:rPr lang="en-US" sz="2000" dirty="0"/>
              <a:t>Analyzed global energy data across multiple countries</a:t>
            </a:r>
          </a:p>
          <a:p>
            <a:pPr marL="114300" indent="0" algn="just">
              <a:buNone/>
            </a:pPr>
            <a:r>
              <a:rPr lang="en-US" sz="2000" b="1" dirty="0"/>
              <a:t>Focused on:</a:t>
            </a:r>
          </a:p>
          <a:p>
            <a:pPr algn="just"/>
            <a:r>
              <a:rPr lang="en-US" sz="2000" dirty="0"/>
              <a:t>Energy Consumption &amp; Production</a:t>
            </a:r>
          </a:p>
          <a:p>
            <a:pPr algn="just"/>
            <a:r>
              <a:rPr lang="en-US" sz="2000" dirty="0"/>
              <a:t>Emissions</a:t>
            </a:r>
          </a:p>
          <a:p>
            <a:pPr algn="just"/>
            <a:r>
              <a:rPr lang="en-US" sz="2000" dirty="0"/>
              <a:t>GDP</a:t>
            </a:r>
          </a:p>
          <a:p>
            <a:pPr algn="just"/>
            <a:r>
              <a:rPr lang="en-US" sz="2000" dirty="0"/>
              <a:t>Population</a:t>
            </a:r>
          </a:p>
          <a:p>
            <a:pPr marL="114300" indent="0" algn="just">
              <a:buNone/>
            </a:pPr>
            <a:r>
              <a:rPr lang="en-US" sz="2000" b="1" dirty="0"/>
              <a:t>Goal:</a:t>
            </a:r>
          </a:p>
          <a:p>
            <a:pPr algn="just"/>
            <a:r>
              <a:rPr lang="en-US" sz="2000" dirty="0"/>
              <a:t>Identify trends</a:t>
            </a:r>
          </a:p>
          <a:p>
            <a:pPr algn="just"/>
            <a:r>
              <a:rPr lang="en-US" sz="2000" dirty="0"/>
              <a:t>Understand economic vs environmental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B2C13A6-26D6-BA77-67FC-7E464D9E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B22286-B7C6-D2A0-637D-6A8A3DE76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414" y="419556"/>
            <a:ext cx="4365171" cy="766989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Data Preparation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A8C227-DB0A-B1D1-8037-E406256A5242}"/>
              </a:ext>
            </a:extLst>
          </p:cNvPr>
          <p:cNvSpPr txBox="1">
            <a:spLocks/>
          </p:cNvSpPr>
          <p:nvPr/>
        </p:nvSpPr>
        <p:spPr>
          <a:xfrm>
            <a:off x="414551" y="1331496"/>
            <a:ext cx="11362896" cy="4411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/>
            <a:r>
              <a:rPr lang="en-US" sz="2400" b="1" dirty="0"/>
              <a:t>Imported 6 CSV datasets into MySQL</a:t>
            </a:r>
          </a:p>
          <a:p>
            <a:pPr algn="just"/>
            <a:r>
              <a:rPr lang="en-US" sz="2400" b="1" dirty="0"/>
              <a:t>Created relationships using foreign keys</a:t>
            </a:r>
          </a:p>
          <a:p>
            <a:pPr algn="just"/>
            <a:r>
              <a:rPr lang="en-US" sz="2400" b="1" dirty="0"/>
              <a:t>Ensured: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Consistent country names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Year alignment across tables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dirty="0"/>
              <a:t>No missing joins</a:t>
            </a:r>
          </a:p>
        </p:txBody>
      </p:sp>
    </p:spTree>
    <p:extLst>
      <p:ext uri="{BB962C8B-B14F-4D97-AF65-F5344CB8AC3E}">
        <p14:creationId xmlns:p14="http://schemas.microsoft.com/office/powerpoint/2010/main" val="402232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0B199C6-2276-5E6B-72BD-35DA351D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F666D6-7F5B-7DB8-0E13-FBFE90449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414" y="419556"/>
            <a:ext cx="4365171" cy="76698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Database Overview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C2EFE2-24CE-C409-DCD5-4CEE073E5224}"/>
              </a:ext>
            </a:extLst>
          </p:cNvPr>
          <p:cNvSpPr txBox="1">
            <a:spLocks/>
          </p:cNvSpPr>
          <p:nvPr/>
        </p:nvSpPr>
        <p:spPr>
          <a:xfrm>
            <a:off x="908414" y="1149237"/>
            <a:ext cx="10548280" cy="466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buNone/>
            </a:pPr>
            <a:r>
              <a:rPr lang="en-US" sz="2000" b="1" dirty="0"/>
              <a:t>Database Schema:</a:t>
            </a:r>
          </a:p>
          <a:p>
            <a:r>
              <a:rPr lang="en-US" sz="2000" dirty="0"/>
              <a:t>Country_3 → (many) population</a:t>
            </a:r>
          </a:p>
          <a:p>
            <a:r>
              <a:rPr lang="en-US" sz="2000" dirty="0"/>
              <a:t>Country_3 → (many) emission_3</a:t>
            </a:r>
          </a:p>
          <a:p>
            <a:r>
              <a:rPr lang="en-US" sz="2000" dirty="0"/>
              <a:t>Country_3 → (many) population</a:t>
            </a:r>
          </a:p>
          <a:p>
            <a:r>
              <a:rPr lang="en-US" sz="2000" dirty="0"/>
              <a:t>Country_3) → (many) production</a:t>
            </a:r>
          </a:p>
          <a:p>
            <a:r>
              <a:rPr lang="en-US" sz="2000" dirty="0"/>
              <a:t>Country_3 → (many) consumption</a:t>
            </a:r>
          </a:p>
          <a:p>
            <a:r>
              <a:rPr lang="en-US" sz="2000" dirty="0"/>
              <a:t>Country_3 → (many) gdp_3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 algn="just">
              <a:buNone/>
            </a:pPr>
            <a:r>
              <a:rPr lang="en-US" sz="2000" dirty="0"/>
              <a:t>All Tables were linked using </a:t>
            </a:r>
            <a:r>
              <a:rPr lang="en-US" sz="2000" b="1" dirty="0"/>
              <a:t>Country and Year.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782E1-7F1B-F012-2545-4F3ABB542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54" y="1294700"/>
            <a:ext cx="5184646" cy="367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6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4B40A82-43C2-112E-D38B-C0DA9681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014D4F-31B3-3009-2169-1659FC5C4823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IN" sz="2400" b="1" u="sng" dirty="0">
                <a:solidFill>
                  <a:srgbClr val="C00000"/>
                </a:solidFill>
              </a:rPr>
              <a:t> General &amp; Comparative Analysis</a:t>
            </a:r>
          </a:p>
          <a:p>
            <a:pPr marL="114300" indent="0">
              <a:buNone/>
            </a:pPr>
            <a:r>
              <a:rPr lang="en-US" sz="2000" b="1" dirty="0"/>
              <a:t>What is the total emission per country for the most recent year available?</a:t>
            </a:r>
          </a:p>
          <a:p>
            <a:pPr marL="114300" indent="0">
              <a:buNone/>
            </a:pPr>
            <a:r>
              <a:rPr lang="en-US" sz="2000" b="1" dirty="0"/>
              <a:t>Insight:</a:t>
            </a:r>
          </a:p>
          <a:p>
            <a:r>
              <a:rPr lang="en-US" sz="2000" dirty="0"/>
              <a:t>Most countries have very low per capita emissions (~0.007).</a:t>
            </a:r>
          </a:p>
          <a:p>
            <a:r>
              <a:rPr lang="en-US" sz="2000" dirty="0"/>
              <a:t>Emissions are relatively uniform across smaller countries, </a:t>
            </a:r>
          </a:p>
          <a:p>
            <a:pPr marL="114300" indent="0">
              <a:buNone/>
            </a:pPr>
            <a:r>
              <a:rPr lang="en-US" sz="2000" dirty="0"/>
              <a:t>      while larger economies dominate in total emissions</a:t>
            </a:r>
          </a:p>
          <a:p>
            <a:pPr marL="114300" indent="0">
              <a:buNone/>
            </a:pPr>
            <a:r>
              <a:rPr lang="en-US" sz="2000" dirty="0"/>
              <a:t>      when aggregated.</a:t>
            </a:r>
          </a:p>
          <a:p>
            <a:r>
              <a:rPr lang="en-US" sz="2000" dirty="0"/>
              <a:t>Higher industrial activity → higher emissions</a:t>
            </a:r>
          </a:p>
          <a:p>
            <a:pPr marL="114300" indent="0">
              <a:buNone/>
            </a:pPr>
            <a:endParaRPr lang="en-US" sz="2000" b="1" dirty="0"/>
          </a:p>
          <a:p>
            <a:pPr marL="114300" indent="0">
              <a:buNone/>
            </a:pPr>
            <a:endParaRPr lang="en-US" sz="2000" b="1" u="sng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B8927-9F20-F962-6E1D-A1523B78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solidFill>
                  <a:srgbClr val="C00000"/>
                </a:solidFill>
              </a:rPr>
              <a:t>Data Analysis Questions</a:t>
            </a:r>
            <a:endParaRPr b="1" u="sng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E36AA4-BE43-78E6-EE4E-6C0E179C9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334" y="1748822"/>
            <a:ext cx="4081777" cy="11736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88DF83-3985-E80C-FC93-307643EA5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053" y="3040428"/>
            <a:ext cx="2991267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8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3A94656-9462-CD62-1DE6-3F3D10BD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909E82-531A-A7C1-F4D4-B54AAD3DFCB3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What are the top 5 countries by GDP in the most recent year?</a:t>
            </a:r>
          </a:p>
          <a:p>
            <a:pPr marL="114300" indent="0">
              <a:buNone/>
            </a:pPr>
            <a:r>
              <a:rPr lang="en-US" sz="2000" b="1" dirty="0"/>
              <a:t>From Data:</a:t>
            </a:r>
          </a:p>
          <a:p>
            <a:r>
              <a:rPr lang="en-US" sz="2000" dirty="0"/>
              <a:t>USA, China, India, Vietnam, etc. appear at top </a:t>
            </a:r>
          </a:p>
          <a:p>
            <a:r>
              <a:rPr lang="en-US" sz="2000" dirty="0"/>
              <a:t>The top GDP countries are dominated by large </a:t>
            </a:r>
          </a:p>
          <a:p>
            <a:pPr marL="114300" indent="0">
              <a:buNone/>
            </a:pPr>
            <a:r>
              <a:rPr lang="en-US" sz="2000" dirty="0"/>
              <a:t>      economies like the United States, China, and India, </a:t>
            </a:r>
          </a:p>
          <a:p>
            <a:pPr marL="114300" indent="0">
              <a:buNone/>
            </a:pPr>
            <a:r>
              <a:rPr lang="en-US" sz="2000" dirty="0"/>
              <a:t>      reflecting strong industrial and economic activity.</a:t>
            </a:r>
          </a:p>
          <a:p>
            <a:pPr marL="114300" indent="0">
              <a:buNone/>
            </a:pPr>
            <a:endParaRPr lang="en-US" sz="2000" b="1" dirty="0"/>
          </a:p>
          <a:p>
            <a:pPr marL="114300" indent="0">
              <a:buNone/>
            </a:pPr>
            <a:endParaRPr lang="en-US" sz="20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4A6FC-588C-40B5-08F1-F47D05D7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FA6E4-4076-51E2-C841-53E0A1902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908" y="1237096"/>
            <a:ext cx="3458067" cy="1428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A983EF-E683-7267-A9E1-85E132700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530" y="2982618"/>
            <a:ext cx="3310103" cy="180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2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53B3E5D-445F-7659-C100-A1E7F365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FFD269-156A-C31F-3FCB-15514C6A9623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Compare energy production and consumption by country and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Many countries have </a:t>
            </a:r>
            <a:r>
              <a:rPr lang="en-US" sz="2000" b="1" dirty="0"/>
              <a:t>low production but higher consumption.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Some have </a:t>
            </a:r>
            <a:r>
              <a:rPr lang="en-US" sz="2000" b="1" dirty="0"/>
              <a:t>balanced or surplus production.</a:t>
            </a:r>
            <a:endParaRPr lang="en-US" sz="2000" dirty="0"/>
          </a:p>
          <a:p>
            <a:r>
              <a:rPr lang="en-US" sz="2000" dirty="0"/>
              <a:t>Developed economies tend to have high production and consumption, while smaller or developing </a:t>
            </a:r>
          </a:p>
          <a:p>
            <a:pPr marL="114300" indent="0">
              <a:buNone/>
            </a:pPr>
            <a:r>
              <a:rPr lang="en-US" sz="2000" dirty="0"/>
              <a:t>      countries rely more on imports.</a:t>
            </a:r>
          </a:p>
          <a:p>
            <a:pPr marL="114300" indent="0">
              <a:buNone/>
            </a:pPr>
            <a:endParaRPr lang="en-US" sz="20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D6EFB-A7C9-8452-EB36-CD659F9A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F5FB8-24F8-74A6-62AD-906E6291A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2980395"/>
            <a:ext cx="3200400" cy="3067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A0D2CA-0DD4-EE35-5B5B-79E94A62E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909" y="2980395"/>
            <a:ext cx="3000691" cy="3181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F8432E-EE31-C490-6721-E5EF1020E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359" y="3558184"/>
            <a:ext cx="4768657" cy="145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84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1167484-5EB3-86BE-2BC7-23A603F4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EDFC8F-FEE0-016C-76AC-F6AF946A317A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Which energy types contribute most to emissions across all countries?</a:t>
            </a:r>
          </a:p>
          <a:p>
            <a:r>
              <a:rPr lang="en-US" sz="2000" dirty="0"/>
              <a:t>CO₂ emissions (Total): ~142,723 , highest among all categories. </a:t>
            </a:r>
          </a:p>
          <a:p>
            <a:r>
              <a:rPr lang="en-US" sz="2000" b="1" dirty="0"/>
              <a:t>Coal &amp; coke: ~63,945</a:t>
            </a:r>
            <a:r>
              <a:rPr lang="en-US" sz="2000" dirty="0"/>
              <a:t> </a:t>
            </a:r>
          </a:p>
          <a:p>
            <a:r>
              <a:rPr lang="en-US" sz="2000" dirty="0"/>
              <a:t>Coal-based energy remains a major source </a:t>
            </a:r>
          </a:p>
          <a:p>
            <a:pPr marL="114300" indent="0">
              <a:buNone/>
            </a:pPr>
            <a:r>
              <a:rPr lang="en-US" sz="2000" dirty="0"/>
              <a:t>      of emissions due to heavy industrial usage.</a:t>
            </a:r>
          </a:p>
          <a:p>
            <a:r>
              <a:rPr lang="en-US" sz="2000" b="1" dirty="0"/>
              <a:t>Petroleum &amp; liquids: ~47,297</a:t>
            </a:r>
            <a:r>
              <a:rPr lang="en-US" sz="2000" dirty="0"/>
              <a:t> </a:t>
            </a:r>
          </a:p>
          <a:p>
            <a:r>
              <a:rPr lang="en-US" sz="2000" dirty="0"/>
              <a:t>Transportation and fuel consumption significantly </a:t>
            </a:r>
          </a:p>
          <a:p>
            <a:pPr marL="114300" indent="0">
              <a:buNone/>
            </a:pPr>
            <a:r>
              <a:rPr lang="en-US" sz="2000" dirty="0"/>
              <a:t>      contribute to emissions.</a:t>
            </a:r>
          </a:p>
          <a:p>
            <a:r>
              <a:rPr lang="en-US" sz="2000" b="1" dirty="0"/>
              <a:t>Natural gas: ~31,469</a:t>
            </a:r>
            <a:r>
              <a:rPr lang="en-US" sz="2000" dirty="0"/>
              <a:t> </a:t>
            </a:r>
          </a:p>
          <a:p>
            <a:r>
              <a:rPr lang="en-US" sz="2000" dirty="0"/>
              <a:t>Natural gas is relatively cleaner compared to coal and </a:t>
            </a:r>
          </a:p>
          <a:p>
            <a:pPr marL="114300" indent="0">
              <a:buNone/>
            </a:pPr>
            <a:r>
              <a:rPr lang="en-US" sz="2000" dirty="0"/>
              <a:t>      petroleum, but still contributes substantially.</a:t>
            </a:r>
          </a:p>
          <a:p>
            <a:r>
              <a:rPr lang="en-US" sz="2000" dirty="0"/>
              <a:t>Coal and petroleum together contribute more than natural gas,</a:t>
            </a:r>
          </a:p>
          <a:p>
            <a:pPr marL="114300" indent="0">
              <a:buNone/>
            </a:pPr>
            <a:r>
              <a:rPr lang="en-US" sz="2000" dirty="0"/>
              <a:t>      highlighting the continued reliance on high-emission fossil fuels globally.</a:t>
            </a:r>
          </a:p>
          <a:p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1154B-7909-9FB3-06A4-A590DF8A7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FDA61-E3C8-7854-F43E-60E98B5AB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753" y="2036706"/>
            <a:ext cx="4520135" cy="1065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26FB26-87E6-7CA4-ACA7-155FE1775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739" y="3250650"/>
            <a:ext cx="4263412" cy="118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7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A6A8D27-CAF1-3626-427F-AB599FBC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F8A11A-8943-AEA1-8A7B-C82169FB3E0C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IN" sz="2400" b="1" u="sng" dirty="0">
                <a:solidFill>
                  <a:srgbClr val="C00000"/>
                </a:solidFill>
              </a:rPr>
              <a:t>Trend Analysis Over Time</a:t>
            </a:r>
          </a:p>
          <a:p>
            <a:pPr marL="114300" indent="0">
              <a:buNone/>
            </a:pPr>
            <a:r>
              <a:rPr lang="en-US" sz="2000" b="1" dirty="0"/>
              <a:t>How have global emissions changed year over year?</a:t>
            </a:r>
          </a:p>
          <a:p>
            <a:r>
              <a:rPr lang="en-US" sz="2000" dirty="0"/>
              <a:t>Global emissions have shown a consistent upward trend over</a:t>
            </a:r>
          </a:p>
          <a:p>
            <a:pPr marL="114300" indent="0">
              <a:buNone/>
            </a:pPr>
            <a:r>
              <a:rPr lang="en-US" sz="2000" dirty="0"/>
              <a:t>      the years.</a:t>
            </a:r>
          </a:p>
          <a:p>
            <a:r>
              <a:rPr lang="en-US" sz="2000" dirty="0"/>
              <a:t>Sharp rise between 2020 – 2021 indicates recovery in </a:t>
            </a:r>
          </a:p>
          <a:p>
            <a:pPr marL="114300" indent="0">
              <a:buNone/>
            </a:pPr>
            <a:r>
              <a:rPr lang="en-US" sz="2000" dirty="0"/>
              <a:t>      industrial and economic activities post slow-downs.</a:t>
            </a:r>
          </a:p>
          <a:p>
            <a:r>
              <a:rPr lang="en-US" sz="2000" dirty="0"/>
              <a:t>For the successive years of 2022,2023 emission growth is </a:t>
            </a:r>
          </a:p>
          <a:p>
            <a:pPr marL="114300" indent="0">
              <a:buNone/>
            </a:pPr>
            <a:r>
              <a:rPr lang="en-US" sz="2000" dirty="0"/>
              <a:t>      stabilizing but still increasing.</a:t>
            </a:r>
          </a:p>
          <a:p>
            <a:pPr marL="114300" indent="0">
              <a:buNone/>
            </a:pPr>
            <a:endParaRPr lang="en-US" sz="2000" b="1" dirty="0"/>
          </a:p>
          <a:p>
            <a:pPr marL="114300" indent="0">
              <a:buNone/>
            </a:pPr>
            <a:endParaRPr lang="en-US" sz="2000" b="1" u="sng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AEBE8-D76D-1C17-03DE-888E541DC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solidFill>
                  <a:srgbClr val="C00000"/>
                </a:solidFill>
              </a:rPr>
              <a:t>Data Analysis Questions</a:t>
            </a:r>
            <a:endParaRPr b="1" u="sng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1D754-4A69-72E0-A4A8-DF7759879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801" y="1767408"/>
            <a:ext cx="4029637" cy="1105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15DAAE-BCC3-73A6-4014-D25A9EFA3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385" y="3424989"/>
            <a:ext cx="2449584" cy="131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16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8EAD41D-B2C7-113B-34E5-FA31EE40D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536508-BB02-8BDE-AD63-64AF2324C507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 What is the trend in GDP for each country over the given years?</a:t>
            </a:r>
          </a:p>
          <a:p>
            <a:r>
              <a:rPr lang="en-US" sz="2000" dirty="0"/>
              <a:t>GDP increases year-over-year for most countries.</a:t>
            </a:r>
          </a:p>
          <a:p>
            <a:r>
              <a:rPr lang="en-US" sz="2000" dirty="0"/>
              <a:t>Most countries show consistent economic growth, </a:t>
            </a:r>
          </a:p>
          <a:p>
            <a:pPr marL="114300" indent="0">
              <a:buNone/>
            </a:pPr>
            <a:r>
              <a:rPr lang="en-US" sz="2000" dirty="0"/>
              <a:t>      indicating expanding economies globally.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D1472-F916-B0B3-BD03-FC0EBA3F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71B2B-F835-CCE5-21F0-C2C6C3D83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120" y="1574638"/>
            <a:ext cx="4467849" cy="857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F2C15B-39E3-13FF-F19B-8BE10468ED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460"/>
          <a:stretch>
            <a:fillRect/>
          </a:stretch>
        </p:blipFill>
        <p:spPr>
          <a:xfrm>
            <a:off x="623586" y="2686910"/>
            <a:ext cx="2095792" cy="2627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4E83B3-5F4A-E215-EA5F-31A673089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62" y="2939757"/>
            <a:ext cx="2124371" cy="1009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EDEC60-AB54-73F6-F50A-2CA8D7270B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77" y="4693910"/>
            <a:ext cx="2076740" cy="1009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55FA13-CEF1-DFE2-28F0-848E7D911D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460"/>
          <a:stretch>
            <a:fillRect/>
          </a:stretch>
        </p:blipFill>
        <p:spPr>
          <a:xfrm>
            <a:off x="655641" y="4431143"/>
            <a:ext cx="2095792" cy="2627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9C3FCD-25CF-8B0F-5F2D-BECC7A1823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460"/>
          <a:stretch>
            <a:fillRect/>
          </a:stretch>
        </p:blipFill>
        <p:spPr>
          <a:xfrm>
            <a:off x="3200400" y="2686910"/>
            <a:ext cx="2095792" cy="2627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7BDEC4-6413-E084-6EE7-0DFDBD615B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939845"/>
            <a:ext cx="2095792" cy="10820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035445-D5DA-A9F2-B6D0-05B9075283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460"/>
          <a:stretch>
            <a:fillRect/>
          </a:stretch>
        </p:blipFill>
        <p:spPr>
          <a:xfrm>
            <a:off x="3190568" y="4421311"/>
            <a:ext cx="2095792" cy="2627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7D454D3-768E-AC5C-203A-538CDDBDA2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0736" y="4674552"/>
            <a:ext cx="2133898" cy="10193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D1E6F4-DE57-8823-BC53-C65D67B692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460"/>
          <a:stretch>
            <a:fillRect/>
          </a:stretch>
        </p:blipFill>
        <p:spPr>
          <a:xfrm>
            <a:off x="5745159" y="2677078"/>
            <a:ext cx="2095792" cy="2627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E7DA62-AD2A-7AA5-97F7-0893DAC56A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2212" y="2928867"/>
            <a:ext cx="2143424" cy="10002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A3F52ED-1327-C598-FFDB-AF23955DB6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460"/>
          <a:stretch>
            <a:fillRect/>
          </a:stretch>
        </p:blipFill>
        <p:spPr>
          <a:xfrm>
            <a:off x="5732212" y="4411785"/>
            <a:ext cx="2095792" cy="26276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5D40C08-605E-FEA9-CE1A-7D7BCC55E7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4550" y="4659473"/>
            <a:ext cx="2152950" cy="10574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0A25544-BAE8-65DC-BB03-BF59D05DD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460"/>
          <a:stretch>
            <a:fillRect/>
          </a:stretch>
        </p:blipFill>
        <p:spPr>
          <a:xfrm>
            <a:off x="8276971" y="2653791"/>
            <a:ext cx="2095792" cy="26276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82584D4-F9D4-81EC-CFF0-99C3CD9902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0086" y="2914665"/>
            <a:ext cx="2057687" cy="103837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70ABB28-F197-6032-9914-501910B3DD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460"/>
          <a:stretch>
            <a:fillRect/>
          </a:stretch>
        </p:blipFill>
        <p:spPr>
          <a:xfrm>
            <a:off x="8276971" y="4390728"/>
            <a:ext cx="2095792" cy="26276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7523415-ADA2-08EF-0D9A-18DEE1929A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2957" y="4636974"/>
            <a:ext cx="2038635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99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66F54E4-C2D2-7970-DE6C-D1F1B8AF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D33378-612C-6C73-C707-164634246A33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How has population growth affected total emissions in each country?</a:t>
            </a:r>
          </a:p>
          <a:p>
            <a:r>
              <a:rPr lang="en-US" sz="1600" dirty="0"/>
              <a:t>Population is steadily increasing in most countries.</a:t>
            </a:r>
          </a:p>
          <a:p>
            <a:r>
              <a:rPr lang="en-US" sz="1600" dirty="0"/>
              <a:t>Population growth does not directly translate to </a:t>
            </a:r>
          </a:p>
          <a:p>
            <a:pPr marL="114300" indent="0">
              <a:buNone/>
            </a:pPr>
            <a:r>
              <a:rPr lang="en-US" sz="1600" dirty="0"/>
              <a:t>        higher emissions.</a:t>
            </a:r>
          </a:p>
          <a:p>
            <a:r>
              <a:rPr lang="en-US" sz="1600" dirty="0"/>
              <a:t>In industrializing countries, emissions tend to rise </a:t>
            </a:r>
          </a:p>
          <a:p>
            <a:pPr marL="114300" indent="0">
              <a:buNone/>
            </a:pPr>
            <a:r>
              <a:rPr lang="en-US" sz="1600" dirty="0"/>
              <a:t>       with population growth.</a:t>
            </a:r>
          </a:p>
          <a:p>
            <a:r>
              <a:rPr lang="en-US" sz="1600" dirty="0"/>
              <a:t>The relationship between population and emissions is not </a:t>
            </a:r>
          </a:p>
          <a:p>
            <a:pPr marL="114300" indent="0">
              <a:buNone/>
            </a:pPr>
            <a:r>
              <a:rPr lang="en-US" sz="1600" dirty="0"/>
              <a:t>        uniform across countries and depends on factors like industrialization, energy usage, and efficiency.</a:t>
            </a:r>
            <a:endParaRPr lang="en-US" sz="16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E780D-32E3-8539-F394-7F96B4C2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E397D-D266-DF51-A7EB-7C658138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43101"/>
            <a:ext cx="5554643" cy="1487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D56724-3C84-39B1-200E-5B5E27A49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82" y="3790260"/>
            <a:ext cx="3191320" cy="1066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922571-9BF5-9951-F67F-ADFD7858B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082" y="4999913"/>
            <a:ext cx="3210373" cy="10955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F34A0E-4521-DD12-6751-0C04E37D3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263" y="3780429"/>
            <a:ext cx="3191321" cy="11150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AE1D24-D2BA-06BE-7C43-99FB87132F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263" y="5004370"/>
            <a:ext cx="3258005" cy="1066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7BB608-21F3-0D12-F3C6-68CAF2D25C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3772" y="3752460"/>
            <a:ext cx="3200847" cy="11145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6E8598-DD1F-4AE4-B30C-B3DAF5859A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4246" y="4999461"/>
            <a:ext cx="3210373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98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5371DE7-C958-8080-4123-60743910E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94BD2B-0176-3623-57AB-159B1A1F03B3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Has energy consumption increased or decreased over the years for major economies?</a:t>
            </a:r>
          </a:p>
          <a:p>
            <a:r>
              <a:rPr lang="en-US" sz="2000" dirty="0"/>
              <a:t>Most countries show </a:t>
            </a:r>
            <a:r>
              <a:rPr lang="en-US" sz="2000" b="1" dirty="0"/>
              <a:t>Year-over-year increase in </a:t>
            </a:r>
          </a:p>
          <a:p>
            <a:pPr marL="114300" indent="0">
              <a:buNone/>
            </a:pPr>
            <a:r>
              <a:rPr lang="en-US" sz="2000" b="1" dirty="0"/>
              <a:t>      consumption.</a:t>
            </a:r>
          </a:p>
          <a:p>
            <a:r>
              <a:rPr lang="en-US" sz="2000" dirty="0"/>
              <a:t>Large economies like USA, China, India shows </a:t>
            </a:r>
          </a:p>
          <a:p>
            <a:pPr marL="114300" indent="0">
              <a:buNone/>
            </a:pPr>
            <a:r>
              <a:rPr lang="en-US" sz="2000" b="1" dirty="0"/>
              <a:t>      higher and faster growth.</a:t>
            </a:r>
          </a:p>
          <a:p>
            <a:r>
              <a:rPr lang="en-US" sz="2000" dirty="0"/>
              <a:t>Global energy demand is rising consistently over </a:t>
            </a:r>
          </a:p>
          <a:p>
            <a:pPr marL="114300" indent="0">
              <a:buNone/>
            </a:pPr>
            <a:r>
              <a:rPr lang="en-US" sz="2000" dirty="0"/>
              <a:t>      time.</a:t>
            </a:r>
          </a:p>
          <a:p>
            <a:r>
              <a:rPr lang="en-US" sz="2000" dirty="0"/>
              <a:t>Industrial and economic expansion is a key driver </a:t>
            </a:r>
          </a:p>
          <a:p>
            <a:pPr marL="114300" indent="0">
              <a:buNone/>
            </a:pPr>
            <a:r>
              <a:rPr lang="en-US" sz="2000" dirty="0"/>
              <a:t>      of energy consumption.</a:t>
            </a:r>
          </a:p>
          <a:p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960A1-EC4F-FF17-0F78-1176EACE5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1B6BB-D320-4E6E-95EA-EA1A92552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728" y="1460781"/>
            <a:ext cx="5153744" cy="1076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82B19-B391-C04A-433A-FF36CC679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655" y="2866250"/>
            <a:ext cx="2734057" cy="2305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6E6992-4480-2128-DC81-532375B22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8785" y="2866250"/>
            <a:ext cx="2753109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90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DC45651-D50D-B0B8-E905-854B876D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51D5C4-8877-2482-D344-03271D9E1736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What is the average yearly change in emissions per capita for each country?</a:t>
            </a:r>
          </a:p>
          <a:p>
            <a:r>
              <a:rPr lang="en-US" sz="2000" dirty="0"/>
              <a:t>Most countries show minimal change (~0).</a:t>
            </a:r>
          </a:p>
          <a:p>
            <a:r>
              <a:rPr lang="en-US" sz="2000" dirty="0"/>
              <a:t>Indicates stable emission patterns.</a:t>
            </a:r>
          </a:p>
          <a:p>
            <a:r>
              <a:rPr lang="en-US" sz="2000" dirty="0"/>
              <a:t>No significant increase or decrease observed.</a:t>
            </a:r>
          </a:p>
          <a:p>
            <a:r>
              <a:rPr lang="en-US" sz="2000" dirty="0"/>
              <a:t>I used LAG to calculate year-over-year changes and </a:t>
            </a:r>
          </a:p>
          <a:p>
            <a:pPr marL="114300" indent="0">
              <a:buNone/>
            </a:pPr>
            <a:r>
              <a:rPr lang="en-US" sz="2000" dirty="0"/>
              <a:t>      then averaged those changes to understand long-term </a:t>
            </a:r>
          </a:p>
          <a:p>
            <a:pPr marL="114300" indent="0">
              <a:buNone/>
            </a:pPr>
            <a:r>
              <a:rPr lang="en-US" sz="2000" dirty="0"/>
              <a:t>      emission trends per country.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9B70C-504B-AD4D-633E-B5453786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FAFC66-B5D0-C409-8B95-81F1DD3A1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379" y="1433742"/>
            <a:ext cx="5636442" cy="1137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1DEDA2-DC6B-4520-8D3A-9AB9475DF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836" y="2771729"/>
            <a:ext cx="4277322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28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0BD72E4-80B3-FCEA-4D21-D6E51D2E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B9B1A5-4009-C5A3-EC3C-A0915AE2CBF1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IN" sz="2400" b="1" u="sng" dirty="0">
                <a:solidFill>
                  <a:srgbClr val="C00000"/>
                </a:solidFill>
              </a:rPr>
              <a:t>Ratio &amp; Per Capita Analysis</a:t>
            </a:r>
          </a:p>
          <a:p>
            <a:pPr marL="114300" indent="0">
              <a:buNone/>
            </a:pPr>
            <a:r>
              <a:rPr lang="en-US" sz="2000" b="1" dirty="0"/>
              <a:t>What is the emission-to-GDP ratio for each country by year?</a:t>
            </a:r>
          </a:p>
          <a:p>
            <a:r>
              <a:rPr lang="en-US" sz="2000" dirty="0"/>
              <a:t>Countries with lower GDP show higher ratios.</a:t>
            </a:r>
          </a:p>
          <a:p>
            <a:r>
              <a:rPr lang="en-US" sz="2000" dirty="0"/>
              <a:t>Developing economies generate more </a:t>
            </a:r>
          </a:p>
          <a:p>
            <a:pPr marL="114300" indent="0">
              <a:buNone/>
            </a:pPr>
            <a:r>
              <a:rPr lang="en-US" sz="2000" dirty="0"/>
              <a:t>      emissions per unit of economic output.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Developing countries: Focus on growth → less efficiency.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Developed countries: Focus on optimization → better efficiency.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28895E-807E-A29A-8685-D7273A3F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solidFill>
                  <a:srgbClr val="C00000"/>
                </a:solidFill>
              </a:rPr>
              <a:t>Data Analysis Questions</a:t>
            </a:r>
            <a:endParaRPr b="1" u="sng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4ABB97-C807-82C7-F6AE-7A36A4E4B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11" y="3724058"/>
            <a:ext cx="2962688" cy="924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C3EA6B-F852-CA07-B15A-6EE23665C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78" y="4795203"/>
            <a:ext cx="2915057" cy="276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D43BB8-9427-0605-D4B9-25DFBB399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78" y="5071467"/>
            <a:ext cx="2943636" cy="857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39FBC8-FA84-5C7B-404D-82ABB3854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395" y="3675204"/>
            <a:ext cx="2915057" cy="2762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7D2E33-4FC0-031A-CE9E-889894DB35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1143" y="3951162"/>
            <a:ext cx="2915057" cy="7555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7FE452-2F8F-3F00-83EA-BAF2C362D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815" y="4794592"/>
            <a:ext cx="2915057" cy="2762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1856F3-6F82-C805-2299-7F09FCCAF9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1815" y="5064067"/>
            <a:ext cx="2915057" cy="8097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B4BE39-8437-3BD1-0BC6-8381C9A7E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749" y="3686590"/>
            <a:ext cx="2915057" cy="2762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30D9400-D068-B2C2-F4E8-CC23AF9F56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7084" y="3937222"/>
            <a:ext cx="2915057" cy="8573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3A1E79D-B94D-E864-F6D2-49B58DAA6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832" y="4813993"/>
            <a:ext cx="2915057" cy="2762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7DD6CD4-D125-F21B-4873-44F480D04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1528" y="5080730"/>
            <a:ext cx="2934109" cy="8383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D681C4A-43DC-45D1-3D61-381BBEDB85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8955" y="1653245"/>
            <a:ext cx="5053781" cy="142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05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A372180-46BE-647E-F627-8A0FFD2C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A5DA9F-CEB1-1142-5EE4-6716EED54998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What is the energy consumption per capita for each country over the last decade?</a:t>
            </a:r>
          </a:p>
          <a:p>
            <a:r>
              <a:rPr lang="en-IN" sz="2000" dirty="0"/>
              <a:t>Higher in developed countries.</a:t>
            </a:r>
          </a:p>
          <a:p>
            <a:r>
              <a:rPr lang="en-US" sz="2000" dirty="0"/>
              <a:t>Higher living standards and infrastructure lead to </a:t>
            </a:r>
          </a:p>
          <a:p>
            <a:pPr marL="114300" indent="0">
              <a:buNone/>
            </a:pPr>
            <a:r>
              <a:rPr lang="en-US" sz="2000" dirty="0"/>
              <a:t>       greater energy usage per person.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E3F99-8923-9AC5-0B1F-9136069B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0A1FD-7E02-ADC8-1294-9B703A440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505" y="1564041"/>
            <a:ext cx="5870705" cy="12406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CFDB3E-E698-FB59-B7F3-A0DC435A1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76" y="3062767"/>
            <a:ext cx="3677163" cy="28769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ED163F-9ECC-7A52-F357-E5E4DDDC3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398" y="3062767"/>
            <a:ext cx="3648584" cy="28674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7C621D-42EA-2621-B4EA-75F2161DC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66" y="3062767"/>
            <a:ext cx="3648584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63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D927DC1-C77C-ECBC-654D-4B1BED19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5F3CC8-01E1-DC7C-ED71-330A79CB1117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How does energy production per capita vary across countries?</a:t>
            </a:r>
          </a:p>
          <a:p>
            <a:r>
              <a:rPr lang="en-US" sz="2000" dirty="0"/>
              <a:t>Energy production per capita measures how much </a:t>
            </a:r>
          </a:p>
          <a:p>
            <a:pPr marL="114300" indent="0">
              <a:buNone/>
            </a:pPr>
            <a:r>
              <a:rPr lang="en-US" sz="2000" dirty="0"/>
              <a:t>      energy a country produces per person, indicating </a:t>
            </a:r>
          </a:p>
          <a:p>
            <a:pPr marL="114300" indent="0">
              <a:buNone/>
            </a:pPr>
            <a:r>
              <a:rPr lang="en-US" sz="2000" dirty="0"/>
              <a:t>      resource availability and production capacity.</a:t>
            </a:r>
          </a:p>
          <a:p>
            <a:r>
              <a:rPr lang="en-US" sz="2000" dirty="0"/>
              <a:t>Energy production capacity is highly uneven across </a:t>
            </a:r>
          </a:p>
          <a:p>
            <a:pPr marL="114300" indent="0">
              <a:buNone/>
            </a:pPr>
            <a:r>
              <a:rPr lang="en-US" sz="2000" dirty="0"/>
              <a:t>      countries. Countries with natural resources produce </a:t>
            </a:r>
          </a:p>
          <a:p>
            <a:pPr marL="114300" indent="0">
              <a:buNone/>
            </a:pPr>
            <a:r>
              <a:rPr lang="en-US" sz="2000" dirty="0"/>
              <a:t>      more energy per person.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6DFBA-F6D1-BDB4-1AB2-B32F039E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C6213-4544-A45D-A9FB-EC3BBE785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92" y="1433742"/>
            <a:ext cx="5453534" cy="1395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AC2FDC-D355-3EC0-EF78-B9F408B73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69" y="3711955"/>
            <a:ext cx="2835137" cy="2355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232CE0-648E-6813-EFA7-19864F457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430" y="3710248"/>
            <a:ext cx="2946586" cy="23554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6448CC-FBB7-1597-2C26-994170403D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8488" y="3710248"/>
            <a:ext cx="3115110" cy="10860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4B942E-A808-D65E-1C37-806B14CAC3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130" y="4808240"/>
            <a:ext cx="3124636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74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4BA65EC-6B04-72D7-3FEF-66AB252A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54AEEE-7116-8461-F749-4DE6C613B532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Which countries have the highest energy consumption relative to GDP?</a:t>
            </a:r>
          </a:p>
          <a:p>
            <a:r>
              <a:rPr lang="en-US" sz="2000" dirty="0"/>
              <a:t>Countries with high ratio consume more energy </a:t>
            </a:r>
          </a:p>
          <a:p>
            <a:pPr marL="114300" indent="0">
              <a:buNone/>
            </a:pPr>
            <a:r>
              <a:rPr lang="en-US" sz="2000" dirty="0"/>
              <a:t>      per GDP. These countries are less energy-efficient.</a:t>
            </a:r>
          </a:p>
          <a:p>
            <a:r>
              <a:rPr lang="en-US" sz="2000" dirty="0"/>
              <a:t>Economic output is not proportional to energy usage.</a:t>
            </a:r>
          </a:p>
          <a:p>
            <a:r>
              <a:rPr lang="en-US" sz="2000" dirty="0"/>
              <a:t>Better technology and efficiency reduce energy </a:t>
            </a:r>
          </a:p>
          <a:p>
            <a:pPr marL="114300" indent="0">
              <a:buNone/>
            </a:pPr>
            <a:r>
              <a:rPr lang="en-US" sz="2000" dirty="0"/>
              <a:t>      intensity.</a:t>
            </a:r>
          </a:p>
          <a:p>
            <a:r>
              <a:rPr lang="en-US" sz="2000" dirty="0"/>
              <a:t>Consumption-to-GDP ratio reflects how “energy intensive” </a:t>
            </a:r>
          </a:p>
          <a:p>
            <a:pPr marL="114300" indent="0">
              <a:buNone/>
            </a:pPr>
            <a:r>
              <a:rPr lang="en-US" sz="2000" dirty="0"/>
              <a:t>      an economy is.</a:t>
            </a:r>
          </a:p>
          <a:p>
            <a:r>
              <a:rPr lang="en-US" sz="2000" dirty="0"/>
              <a:t>Countries with higher consumption-to-GDP ratios are less </a:t>
            </a:r>
          </a:p>
          <a:p>
            <a:pPr marL="114300" indent="0">
              <a:buNone/>
            </a:pPr>
            <a:r>
              <a:rPr lang="en-US" sz="2000" dirty="0"/>
              <a:t>      efficient in converting energy into economic output.</a:t>
            </a:r>
          </a:p>
          <a:p>
            <a:r>
              <a:rPr lang="en-US" sz="2000" dirty="0"/>
              <a:t>This metric is crucial because it normalizes energy </a:t>
            </a:r>
          </a:p>
          <a:p>
            <a:pPr marL="114300" indent="0">
              <a:buNone/>
            </a:pPr>
            <a:r>
              <a:rPr lang="en-US" sz="2000" dirty="0"/>
              <a:t>      consumption against economic output, providing a more </a:t>
            </a:r>
          </a:p>
          <a:p>
            <a:pPr marL="114300" indent="0">
              <a:buNone/>
            </a:pPr>
            <a:r>
              <a:rPr lang="en-US" sz="2000" dirty="0"/>
              <a:t>      meaningful comparison across countries.</a:t>
            </a:r>
          </a:p>
          <a:p>
            <a:pPr marL="114300" indent="0">
              <a:buNone/>
            </a:pPr>
            <a:endParaRPr lang="en-US" sz="2000" dirty="0"/>
          </a:p>
          <a:p>
            <a:endParaRPr lang="en-US" sz="2000" b="1" dirty="0"/>
          </a:p>
          <a:p>
            <a:pPr marL="114300" indent="0"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9B4BD-17E4-0A31-53AB-D091A103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D0A02-C045-95FF-1E4A-4ED5C9B93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619" y="1307379"/>
            <a:ext cx="5193672" cy="18389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8EF7C4-8F9C-3873-794A-46B18A741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263" y="3369785"/>
            <a:ext cx="3142384" cy="249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42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9AFBAC6-67EE-CDF6-8C52-53B9170C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00CE34-F581-BA96-0B4F-108D00B187F3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What is the correlation between GDP growth and energy production growth?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C1606-68BA-C4AA-0FBB-3C175EDA0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51F55-10E5-CE9C-EAE5-B228CD438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58" y="1512400"/>
            <a:ext cx="4631683" cy="4454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14A2-5939-0B6B-FC0A-518495FF1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021" y="2415321"/>
            <a:ext cx="4334480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130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21F095A-9AE5-82F1-28BA-BB480D0B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D6E402-C68D-5673-B8EE-010364A2DCA2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What is the correlation between GDP growth and energy production growth?</a:t>
            </a:r>
            <a:endParaRPr lang="en-US" sz="2000" dirty="0"/>
          </a:p>
          <a:p>
            <a:pPr marL="114300" indent="0">
              <a:buNone/>
            </a:pPr>
            <a:r>
              <a:rPr lang="en-IN" sz="2000" b="1" dirty="0"/>
              <a:t>Positive Relationship:</a:t>
            </a:r>
            <a:endParaRPr lang="en-US" sz="2000" b="1" dirty="0"/>
          </a:p>
          <a:p>
            <a:r>
              <a:rPr lang="en-US" sz="2000" dirty="0"/>
              <a:t>GDP growth often aligns with Increase in energy production.</a:t>
            </a:r>
          </a:p>
          <a:p>
            <a:r>
              <a:rPr lang="en-US" sz="2000" dirty="0"/>
              <a:t>Economic expansion drives higher energy demand.</a:t>
            </a:r>
          </a:p>
          <a:p>
            <a:pPr marL="114300" indent="0">
              <a:buNone/>
            </a:pPr>
            <a:r>
              <a:rPr lang="en-US" sz="2000" b="1" dirty="0"/>
              <a:t>Negative Relationship:</a:t>
            </a:r>
          </a:p>
          <a:p>
            <a:r>
              <a:rPr lang="en-US" sz="2000" dirty="0"/>
              <a:t>Some countries show GDP growth without production increase.</a:t>
            </a:r>
          </a:p>
          <a:p>
            <a:r>
              <a:rPr lang="en-US" sz="2000" dirty="0"/>
              <a:t>These countries may rely on energy imports.</a:t>
            </a:r>
          </a:p>
          <a:p>
            <a:pPr marL="114300" indent="0">
              <a:buNone/>
            </a:pPr>
            <a:r>
              <a:rPr lang="en-US" sz="2000" b="1" dirty="0"/>
              <a:t>Negative or Low Growth Patterns</a:t>
            </a:r>
          </a:p>
          <a:p>
            <a:r>
              <a:rPr lang="en-US" sz="2000" dirty="0"/>
              <a:t>Occasional cases GDP increases but production decreases.</a:t>
            </a:r>
          </a:p>
          <a:p>
            <a:r>
              <a:rPr lang="en-US" sz="2000" dirty="0"/>
              <a:t>Indicates improved efficiency or structural changes in the </a:t>
            </a:r>
          </a:p>
          <a:p>
            <a:pPr marL="114300" indent="0">
              <a:buNone/>
            </a:pPr>
            <a:r>
              <a:rPr lang="en-US" sz="2000" dirty="0"/>
              <a:t>      economy.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CF05C-E1F6-CC11-B76F-1C1810FB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4BF42-43B5-25B1-9680-2E3C165E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760" y="2336316"/>
            <a:ext cx="2017792" cy="3376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E037C4-8236-E2A5-03A9-A82DA74EE3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5916"/>
          <a:stretch>
            <a:fillRect/>
          </a:stretch>
        </p:blipFill>
        <p:spPr>
          <a:xfrm>
            <a:off x="10016759" y="855243"/>
            <a:ext cx="2017793" cy="14024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1A8DD1-15A0-7AF1-8572-4285F968B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180" y="1653738"/>
            <a:ext cx="2148668" cy="381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80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2E779D8-E88E-1DAE-0701-E2CD85A3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AD4D22-D059-DC54-AF71-36BE387D65B1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IN" sz="2400" b="1" u="sng" dirty="0">
                <a:solidFill>
                  <a:srgbClr val="C00000"/>
                </a:solidFill>
              </a:rPr>
              <a:t>Global Comparisons</a:t>
            </a:r>
          </a:p>
          <a:p>
            <a:pPr marL="114300" indent="0">
              <a:buNone/>
            </a:pPr>
            <a:r>
              <a:rPr lang="en-US" sz="2000" b="1" dirty="0"/>
              <a:t>What are the top 10 countries by population and how do their emissions compare?</a:t>
            </a:r>
          </a:p>
          <a:p>
            <a:r>
              <a:rPr lang="en-US" sz="2000" dirty="0">
                <a:solidFill>
                  <a:schemeClr val="tx1"/>
                </a:solidFill>
              </a:rPr>
              <a:t>China, India dominate population.</a:t>
            </a:r>
          </a:p>
          <a:p>
            <a:r>
              <a:rPr lang="en-US" sz="2000" dirty="0">
                <a:solidFill>
                  <a:schemeClr val="tx1"/>
                </a:solidFill>
              </a:rPr>
              <a:t>USA high emissions despite lower population.</a:t>
            </a:r>
          </a:p>
          <a:p>
            <a:r>
              <a:rPr lang="en-US" sz="2000" dirty="0">
                <a:solidFill>
                  <a:schemeClr val="tx1"/>
                </a:solidFill>
              </a:rPr>
              <a:t>Highly populated countries contribute significantly to global emissions, but developed nations emit more per capita.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C0B67-AA9A-FCAC-DC56-2BC090A9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solidFill>
                  <a:srgbClr val="C00000"/>
                </a:solidFill>
              </a:rPr>
              <a:t>Data Analysis Questions</a:t>
            </a:r>
            <a:endParaRPr b="1" u="sng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EC6A-709A-838A-F0CC-E4F9D53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134" y="3327336"/>
            <a:ext cx="3910931" cy="2869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2E4E22-407B-03F4-3DDE-421859370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1962" y="3429000"/>
            <a:ext cx="3232962" cy="26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153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9E7399D-C0F5-E58C-8FD0-2246748E9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CD47A6-DA7A-360C-117C-5020F5584B30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 Which countries have improved (reduced) their per capita emissions the most over the last decade?</a:t>
            </a:r>
          </a:p>
          <a:p>
            <a:r>
              <a:rPr lang="en-US" sz="2000" dirty="0"/>
              <a:t>All countries show ‘</a:t>
            </a:r>
            <a:r>
              <a:rPr lang="en-US" sz="2000" b="1" dirty="0"/>
              <a:t>0’ change in per capita emissions.</a:t>
            </a:r>
            <a:endParaRPr lang="en-US" sz="2000" dirty="0"/>
          </a:p>
          <a:p>
            <a:r>
              <a:rPr lang="en-US" sz="2000" dirty="0"/>
              <a:t>Emissions remain constant across years.</a:t>
            </a:r>
          </a:p>
          <a:p>
            <a:r>
              <a:rPr lang="en-US" sz="2000" dirty="0"/>
              <a:t>No country shows measurable progress in reducing emission.</a:t>
            </a:r>
          </a:p>
          <a:p>
            <a:r>
              <a:rPr lang="en-US" sz="2000" dirty="0"/>
              <a:t>The dataset indicates no change in per capita emissions </a:t>
            </a:r>
          </a:p>
          <a:p>
            <a:pPr marL="114300" indent="0">
              <a:buNone/>
            </a:pPr>
            <a:r>
              <a:rPr lang="en-US" sz="2000" dirty="0"/>
              <a:t>      over time, suggesting either stable emission levels or lack </a:t>
            </a:r>
          </a:p>
          <a:p>
            <a:pPr marL="114300" indent="0">
              <a:buNone/>
            </a:pPr>
            <a:r>
              <a:rPr lang="en-US" sz="2000" dirty="0"/>
              <a:t>      of variability in recorded data.</a:t>
            </a:r>
          </a:p>
          <a:p>
            <a:pPr marL="114300" indent="0">
              <a:buNone/>
            </a:pPr>
            <a:r>
              <a:rPr lang="en-IN" sz="2000" b="1" dirty="0"/>
              <a:t>How to CONFIRM</a:t>
            </a:r>
          </a:p>
          <a:p>
            <a:r>
              <a:rPr lang="en-US" sz="2000" dirty="0"/>
              <a:t>You’ll see same values repeated</a:t>
            </a:r>
            <a:endParaRPr lang="en-IN" sz="2000" b="1" dirty="0"/>
          </a:p>
          <a:p>
            <a:pPr marL="114300" indent="0">
              <a:buNone/>
            </a:pPr>
            <a:endParaRPr lang="en-US" sz="2000" b="1" dirty="0"/>
          </a:p>
          <a:p>
            <a:pPr marL="114300" indent="0"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80386-2C38-BF92-C8D5-C0D07F778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2A6C5-5C10-85B7-CE16-76B67651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070" y="1433742"/>
            <a:ext cx="4518444" cy="1995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0D6E07-6BBB-C11C-4F93-7F2B51707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504" y="3595277"/>
            <a:ext cx="2124371" cy="2286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47B934-037E-7CAC-DC0C-23B864AE4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83" y="4738436"/>
            <a:ext cx="3572374" cy="9240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B54E29-A6AC-DB05-D2E0-5E339B971A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0837" y="3931428"/>
            <a:ext cx="2783319" cy="219958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AB83D8-E5A4-05B5-6295-3E4271441AF0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348163" y="5031220"/>
            <a:ext cx="7526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655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C1B6CD0-3F8B-4E7C-D74E-75F340CB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528F82-4C75-1CDE-D4E6-C3B201A27E9F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24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What is the global share (%) of emissions by country?</a:t>
            </a:r>
          </a:p>
          <a:p>
            <a:r>
              <a:rPr lang="en-US" sz="2000" dirty="0"/>
              <a:t>China contributes the largest share of global emissions (~32%), making it the dominant emitter.</a:t>
            </a:r>
          </a:p>
          <a:p>
            <a:r>
              <a:rPr lang="en-US" sz="2000" dirty="0"/>
              <a:t>The United States is the second-largest contributor (~13%), </a:t>
            </a:r>
          </a:p>
          <a:p>
            <a:pPr marL="114300" indent="0">
              <a:buNone/>
            </a:pPr>
            <a:r>
              <a:rPr lang="en-US" sz="2000" dirty="0"/>
              <a:t>      significantly lower than China but still substantial.</a:t>
            </a:r>
          </a:p>
          <a:p>
            <a:r>
              <a:rPr lang="en-US" sz="2000" dirty="0"/>
              <a:t>India ranks third (~7%), indicating rapid industrial </a:t>
            </a:r>
          </a:p>
          <a:p>
            <a:pPr marL="114300" indent="0">
              <a:buNone/>
            </a:pPr>
            <a:r>
              <a:rPr lang="en-US" sz="2000" dirty="0"/>
              <a:t>      growth and increasing energy demand.</a:t>
            </a:r>
          </a:p>
          <a:p>
            <a:r>
              <a:rPr lang="en-US" sz="2000" dirty="0"/>
              <a:t>Developed and industrialized nations dominate </a:t>
            </a:r>
          </a:p>
          <a:p>
            <a:pPr marL="114300" indent="0">
              <a:buNone/>
            </a:pPr>
            <a:r>
              <a:rPr lang="en-US" sz="2000" dirty="0"/>
              <a:t>      emission share due to high energy consumption.</a:t>
            </a:r>
          </a:p>
          <a:p>
            <a:r>
              <a:rPr lang="en-US" sz="2000" dirty="0"/>
              <a:t>Many countries individually contribute less than 2%, </a:t>
            </a:r>
          </a:p>
          <a:p>
            <a:pPr marL="114300" indent="0">
              <a:buNone/>
            </a:pPr>
            <a:r>
              <a:rPr lang="en-US" sz="2000" dirty="0"/>
              <a:t>      indicating unequal global emission distribution.</a:t>
            </a:r>
          </a:p>
          <a:p>
            <a:r>
              <a:rPr lang="en-US" sz="2000" dirty="0"/>
              <a:t>Global emissions are highly skewed, with few countries</a:t>
            </a:r>
          </a:p>
          <a:p>
            <a:pPr marL="114300" indent="0">
              <a:buNone/>
            </a:pPr>
            <a:r>
              <a:rPr lang="en-US" sz="2000" dirty="0"/>
              <a:t>      responsible for the majority of environmental impact </a:t>
            </a:r>
          </a:p>
          <a:p>
            <a:pPr marL="114300" indent="0"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45590-A14E-AC16-3A32-204D31511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CCB65-15A2-EC3E-0AD9-DE5271564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647" y="2164531"/>
            <a:ext cx="5465280" cy="1331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CAE97-3B88-A2ED-46E3-A5064665D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180" y="3608410"/>
            <a:ext cx="2610214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50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A14D81B-7877-6D84-E164-E6343E880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D2B989-0533-81F9-6F38-EEA1789D9610}"/>
              </a:ext>
            </a:extLst>
          </p:cNvPr>
          <p:cNvSpPr txBox="1">
            <a:spLocks/>
          </p:cNvSpPr>
          <p:nvPr/>
        </p:nvSpPr>
        <p:spPr>
          <a:xfrm>
            <a:off x="465221" y="802106"/>
            <a:ext cx="11277600" cy="547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 dirty="0"/>
              <a:t>What is the global average GDP, emission, and population by year?</a:t>
            </a:r>
          </a:p>
          <a:p>
            <a:r>
              <a:rPr lang="en-US" sz="2000" dirty="0"/>
              <a:t>Average global emissions show a steady increase from 2020 to 2023, </a:t>
            </a:r>
          </a:p>
          <a:p>
            <a:pPr marL="114300" indent="0">
              <a:buNone/>
            </a:pPr>
            <a:r>
              <a:rPr lang="en-US" sz="2000" dirty="0"/>
              <a:t>      indicating rising environmental impact.</a:t>
            </a:r>
          </a:p>
          <a:p>
            <a:r>
              <a:rPr lang="en-US" sz="2000" dirty="0"/>
              <a:t>Global GDP also increases consistently over the years, reflecting </a:t>
            </a:r>
          </a:p>
          <a:p>
            <a:pPr marL="114300" indent="0">
              <a:buNone/>
            </a:pPr>
            <a:r>
              <a:rPr lang="en-US" sz="2000" dirty="0"/>
              <a:t>      economic growth across countries.</a:t>
            </a:r>
          </a:p>
          <a:p>
            <a:r>
              <a:rPr lang="en-US" sz="2000" dirty="0"/>
              <a:t>Average population rises gradually, showing continuous global </a:t>
            </a:r>
          </a:p>
          <a:p>
            <a:pPr marL="114300" indent="0">
              <a:buNone/>
            </a:pPr>
            <a:r>
              <a:rPr lang="en-US" sz="2000" dirty="0"/>
              <a:t>      population expansion.</a:t>
            </a:r>
          </a:p>
          <a:p>
            <a:r>
              <a:rPr lang="en-US" sz="2000" dirty="0"/>
              <a:t>Emissions are increasing alongside GDP, suggesting economic growth </a:t>
            </a:r>
          </a:p>
          <a:p>
            <a:pPr marL="114300" indent="0">
              <a:buNone/>
            </a:pPr>
            <a:r>
              <a:rPr lang="en-US" sz="2000" dirty="0"/>
              <a:t>      is still dependent on energy consumption.</a:t>
            </a:r>
          </a:p>
          <a:p>
            <a:r>
              <a:rPr lang="en-US" sz="2000" dirty="0"/>
              <a:t>The simultaneous rise in GDP and emissions highlights a strong link </a:t>
            </a:r>
          </a:p>
          <a:p>
            <a:pPr marL="114300" indent="0">
              <a:buNone/>
            </a:pPr>
            <a:r>
              <a:rPr lang="en-US" sz="2000" dirty="0"/>
              <a:t>      between economic activity and environmental impact.</a:t>
            </a:r>
          </a:p>
          <a:p>
            <a:r>
              <a:rPr lang="en-US" sz="2000" dirty="0"/>
              <a:t>Population growth contributes to higher energy demand, indirectly</a:t>
            </a:r>
          </a:p>
          <a:p>
            <a:pPr marL="114300" indent="0">
              <a:buNone/>
            </a:pPr>
            <a:r>
              <a:rPr lang="en-US" sz="2000" dirty="0"/>
              <a:t>      influencing emission trends.</a:t>
            </a:r>
          </a:p>
          <a:p>
            <a:r>
              <a:rPr lang="en-US" sz="2000" dirty="0"/>
              <a:t>No decline in average emissions suggests that sustainability efforts </a:t>
            </a:r>
          </a:p>
          <a:p>
            <a:pPr marL="114300" indent="0">
              <a:buNone/>
            </a:pPr>
            <a:r>
              <a:rPr lang="en-US" sz="2000" dirty="0"/>
              <a:t>      are not yet sufficient at a global level.</a:t>
            </a:r>
          </a:p>
          <a:p>
            <a:r>
              <a:rPr lang="en-US" sz="2000" dirty="0"/>
              <a:t>The trend indicates a need for balancing economic growth with environmental sustainability.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8611A-BF31-AD80-5906-FBBC59155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170470"/>
            <a:ext cx="5791200" cy="6316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Data Analysis Questions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D2A8E-EAE4-EBA8-0C11-740BC9EC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264" y="1433742"/>
            <a:ext cx="3604740" cy="2625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C62087-9863-CA43-FC6F-C4D6FCE22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684" y="4398804"/>
            <a:ext cx="4305901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31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A86A6D8-5B3D-A729-798A-FF0D270C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443F99-EB60-5404-54A8-8DFE14092906}"/>
              </a:ext>
            </a:extLst>
          </p:cNvPr>
          <p:cNvSpPr txBox="1">
            <a:spLocks/>
          </p:cNvSpPr>
          <p:nvPr/>
        </p:nvSpPr>
        <p:spPr>
          <a:xfrm>
            <a:off x="4776105" y="93514"/>
            <a:ext cx="2639789" cy="91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47439D-D8DA-59AE-2F3B-F815C41981A3}"/>
              </a:ext>
            </a:extLst>
          </p:cNvPr>
          <p:cNvSpPr txBox="1">
            <a:spLocks/>
          </p:cNvSpPr>
          <p:nvPr/>
        </p:nvSpPr>
        <p:spPr>
          <a:xfrm>
            <a:off x="713014" y="1005419"/>
            <a:ext cx="10765972" cy="4999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400" dirty="0"/>
              <a:t>Global emissions, GDP, and population are all increasing together, showing a strong dependency between economic growth and energy consumption.</a:t>
            </a:r>
          </a:p>
          <a:p>
            <a:r>
              <a:rPr lang="en-US" sz="2400" dirty="0"/>
              <a:t>A small number of countries contribute the majority of emissions, highlighting unequal global environmental impact.</a:t>
            </a:r>
          </a:p>
          <a:p>
            <a:r>
              <a:rPr lang="en-US" sz="2400" dirty="0"/>
              <a:t>Per capita and ratio-based metrics reveal that efficiency varies significantly across countries, not just total output.</a:t>
            </a:r>
          </a:p>
          <a:p>
            <a:r>
              <a:rPr lang="en-US" sz="2400" dirty="0"/>
              <a:t>Most countries show little to no improvement in emission reduction, indicating slow progress toward sustainability goals.</a:t>
            </a:r>
          </a:p>
          <a:p>
            <a:r>
              <a:rPr lang="en-US" sz="2400" dirty="0"/>
              <a:t>The analysis highlights the urgent need to balance economic development with cleaner and more efficient energy usage.</a:t>
            </a:r>
          </a:p>
        </p:txBody>
      </p:sp>
    </p:spTree>
    <p:extLst>
      <p:ext uri="{BB962C8B-B14F-4D97-AF65-F5344CB8AC3E}">
        <p14:creationId xmlns:p14="http://schemas.microsoft.com/office/powerpoint/2010/main" val="2300267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1625</Words>
  <Application>Microsoft Office PowerPoint</Application>
  <PresentationFormat>Widescreen</PresentationFormat>
  <Paragraphs>221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Calibri</vt:lpstr>
      <vt:lpstr>Arial</vt:lpstr>
      <vt:lpstr>Lato Black</vt:lpstr>
      <vt:lpstr>Libre Baskerville</vt:lpstr>
      <vt:lpstr>Courier New</vt:lpstr>
      <vt:lpstr>Office Theme</vt:lpstr>
      <vt:lpstr>PowerPoint Presentation</vt:lpstr>
      <vt:lpstr>PowerPoint Presentation</vt:lpstr>
      <vt:lpstr>PROJECT OVERVIEW</vt:lpstr>
      <vt:lpstr>Data Preparation</vt:lpstr>
      <vt:lpstr>Database Overview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Data Analysis Questions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Trinadh Reddi</cp:lastModifiedBy>
  <cp:revision>66</cp:revision>
  <dcterms:created xsi:type="dcterms:W3CDTF">2021-02-16T05:19:01Z</dcterms:created>
  <dcterms:modified xsi:type="dcterms:W3CDTF">2026-04-15T14:31:52Z</dcterms:modified>
</cp:coreProperties>
</file>